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64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essingbank.com/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036" y="734518"/>
            <a:ext cx="12067082" cy="1873771"/>
          </a:xfrm>
        </p:spPr>
        <p:txBody>
          <a:bodyPr/>
          <a:lstStyle/>
          <a:p>
            <a:r>
              <a:rPr lang="en-US" sz="5400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2728211"/>
            <a:ext cx="7077456" cy="39424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Recognize. Think. Verify. Protect.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Presented by</a:t>
            </a:r>
            <a:r>
              <a:rPr lang="en-US" dirty="0"/>
              <a:t>: Agwasie Blessing Uchechi</a:t>
            </a:r>
          </a:p>
          <a:p>
            <a:pPr marL="0" indent="0">
              <a:buNone/>
            </a:pPr>
            <a:r>
              <a:rPr lang="en-US" b="1" dirty="0"/>
              <a:t>Cybersecurity intern</a:t>
            </a:r>
            <a:r>
              <a:rPr lang="en-US" dirty="0"/>
              <a:t>- </a:t>
            </a:r>
            <a:r>
              <a:rPr lang="en-US" dirty="0" err="1"/>
              <a:t>CodeAlpha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Date</a:t>
            </a:r>
            <a:r>
              <a:rPr lang="en-US" dirty="0"/>
              <a:t>: September 2026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573" y="753255"/>
            <a:ext cx="7781544" cy="859055"/>
          </a:xfrm>
        </p:spPr>
        <p:txBody>
          <a:bodyPr/>
          <a:lstStyle/>
          <a:p>
            <a:r>
              <a:rPr lang="en-US" dirty="0"/>
              <a:t>Training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798820"/>
            <a:ext cx="7637593" cy="488138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we will Learn</a:t>
            </a:r>
          </a:p>
          <a:p>
            <a:r>
              <a:rPr lang="en-US" b="1" dirty="0"/>
              <a:t>By the end of the training, participants will be able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Define phishing and understand how it 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Identify common types of phishing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Recognize suspicious emails, messages and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Understand common social-engineering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Identify warning signs in links, attachments and sender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Know what to do when they receive a suspicious message.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Understand how to respond if they accidentally click a phishing 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Apply practical measures to protect their accounts and personal information.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293688"/>
            <a:ext cx="7819169" cy="859055"/>
          </a:xfrm>
        </p:spPr>
        <p:txBody>
          <a:bodyPr>
            <a:normAutofit/>
          </a:bodyPr>
          <a:lstStyle/>
          <a:p>
            <a:r>
              <a:rPr lang="en-US" dirty="0"/>
              <a:t>What is phishing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783" y="1152743"/>
            <a:ext cx="9398833" cy="5705257"/>
          </a:xfrm>
        </p:spPr>
        <p:txBody>
          <a:bodyPr>
            <a:noAutofit/>
          </a:bodyPr>
          <a:lstStyle/>
          <a:p>
            <a:r>
              <a:rPr lang="en-US" dirty="0"/>
              <a:t>Phishing is a type of cyberattack in which an attacker impersonates a trusted person, company or organization to trick a victim into revealing sensitive information or performing an unsafe action.</a:t>
            </a:r>
          </a:p>
          <a:p>
            <a:r>
              <a:rPr lang="en-US" dirty="0"/>
              <a:t>Attackers may attempt to steal: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Username and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Banking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Credit/debit card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Company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Login credentials</a:t>
            </a:r>
          </a:p>
          <a:p>
            <a:r>
              <a:rPr lang="en-US" dirty="0"/>
              <a:t>They may also try to make victims: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malicious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malicious attachments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malware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 money</a:t>
            </a:r>
          </a:p>
          <a:p>
            <a:r>
              <a:rPr lang="en-US" dirty="0"/>
              <a:t>Phishing is primarily a form of social engineering because it manipulates human </a:t>
            </a:r>
            <a:r>
              <a:rPr lang="en-US" dirty="0" err="1"/>
              <a:t>behaviour</a:t>
            </a:r>
            <a:r>
              <a:rPr lang="en-US" dirty="0"/>
              <a:t> rather than relying only on technical vulnerabilities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Phishing Work?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289155"/>
            <a:ext cx="8549598" cy="442947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Basic Phishing Attack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typical phishing attack follows this pattern: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Attacker creates a deceptive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Message impersonates a trusted person or organization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Victim receives the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Message creates urgency, fear, curiosity or excitement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Victim clicks a link / opens attachment / provides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Attacker obtains information or gains access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Attacker may use the information for fraud, account takeover or further attacks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A fake bank email asks you to “verify your account” through a link.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Phishing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3"/>
            <a:ext cx="7372643" cy="3684588"/>
          </a:xfrm>
        </p:spPr>
        <p:txBody>
          <a:bodyPr/>
          <a:lstStyle/>
          <a:p>
            <a:r>
              <a:rPr lang="en-US" dirty="0"/>
              <a:t>Email Phishing - Fake emails designed to steal information.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Spear Phishing – Targeted phishing aimed at a specific person.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Smishing – Phishing through SMS or messaging apps.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Vishing – Phishing through phone calls.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Whaling – Targeted attacks against executives or high value individuals.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CB79-3621-91FA-6525-84FFECC7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C70DE2-DA8C-3728-F4E7-0CACEBA5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Spot a Phishing Email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4AA7CE-EAB9-2801-140D-BEC187B0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314C71-7B17-840E-D865-15FB454FF63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3"/>
            <a:ext cx="7372643" cy="3684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Look for:</a:t>
            </a:r>
          </a:p>
          <a:p>
            <a:r>
              <a:rPr lang="en-US" dirty="0"/>
              <a:t>Suspicious sender address</a:t>
            </a:r>
          </a:p>
          <a:p>
            <a:r>
              <a:rPr lang="en-US" dirty="0"/>
              <a:t>Urgent or threatening language</a:t>
            </a:r>
          </a:p>
          <a:p>
            <a:r>
              <a:rPr lang="en-US" dirty="0"/>
              <a:t>Suspicious link</a:t>
            </a:r>
          </a:p>
          <a:p>
            <a:r>
              <a:rPr lang="en-US" dirty="0"/>
              <a:t>Unexpected attachments</a:t>
            </a:r>
          </a:p>
          <a:p>
            <a:r>
              <a:rPr lang="en-US" dirty="0"/>
              <a:t>Requests for passwords or OTPs</a:t>
            </a:r>
          </a:p>
          <a:p>
            <a:r>
              <a:rPr lang="en-US" dirty="0"/>
              <a:t>Poor or unusual wording</a:t>
            </a:r>
          </a:p>
          <a:p>
            <a:r>
              <a:rPr lang="en-US" dirty="0"/>
              <a:t>Offers that seem too good to be true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Remember</a:t>
            </a:r>
            <a:r>
              <a:rPr lang="en-US" dirty="0"/>
              <a:t>: A familiar logo does not prove that an email is genuine.</a:t>
            </a:r>
          </a:p>
        </p:txBody>
      </p:sp>
    </p:spTree>
    <p:extLst>
      <p:ext uri="{BB962C8B-B14F-4D97-AF65-F5344CB8AC3E}">
        <p14:creationId xmlns:p14="http://schemas.microsoft.com/office/powerpoint/2010/main" val="1440816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259D-DE98-66DE-1668-6CF6B51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9CCE71-46A3-C983-B07A-3DB2AB5E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a Fake Website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37813E-7099-DE8F-A2F4-F763EC4D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999143-E2D8-605B-EAC2-21D43DA4248E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3"/>
            <a:ext cx="7372643" cy="463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entering information: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 the website address carefully.</a:t>
            </a:r>
          </a:p>
          <a:p>
            <a:r>
              <a:rPr lang="en-US" dirty="0"/>
              <a:t>Look for misspelled or unusual domains.</a:t>
            </a:r>
          </a:p>
          <a:p>
            <a:r>
              <a:rPr lang="en-US" dirty="0"/>
              <a:t>Don’t trust links from unexpected messages.</a:t>
            </a:r>
          </a:p>
          <a:p>
            <a:r>
              <a:rPr lang="en-US" dirty="0"/>
              <a:t>Don’t assume HTTPS means the website is legitimate.</a:t>
            </a:r>
          </a:p>
          <a:p>
            <a:r>
              <a:rPr lang="en-US" dirty="0"/>
              <a:t>If unsure, manually visit the organization’s official website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Legitimate: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www.blessingbank.com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Suspicious:</a:t>
            </a:r>
            <a:r>
              <a:rPr lang="en-US" dirty="0"/>
              <a:t> blessingbank-login-security.com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846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AFCC-32C9-973D-B3FD-1CD5B0F2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6C1A2-3CA2-8260-4AA2-F379C627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46C1A-1EBD-9DEC-65D5-BD63481E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B6FC95-9E56-5BB1-0BA4-0F0ED4F777DE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3"/>
            <a:ext cx="7372643" cy="463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Social engineering is the psychological manipulation of people into revealing information or performing unsafe actions.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Attackers may use:</a:t>
            </a:r>
          </a:p>
          <a:p>
            <a:r>
              <a:rPr lang="en-US" b="1" dirty="0"/>
              <a:t>Fear: </a:t>
            </a:r>
            <a:r>
              <a:rPr lang="en-US" dirty="0"/>
              <a:t>“Your account will be closed”</a:t>
            </a:r>
          </a:p>
          <a:p>
            <a:r>
              <a:rPr lang="en-US" b="1" dirty="0"/>
              <a:t>Urgency: </a:t>
            </a:r>
            <a:r>
              <a:rPr lang="en-US" dirty="0"/>
              <a:t>“Respond within 10 minutes”</a:t>
            </a:r>
          </a:p>
          <a:p>
            <a:r>
              <a:rPr lang="en-US" b="1" dirty="0"/>
              <a:t>Authority: </a:t>
            </a:r>
            <a:r>
              <a:rPr lang="en-US" dirty="0"/>
              <a:t>“Your manager needs this immediately”</a:t>
            </a:r>
          </a:p>
          <a:p>
            <a:r>
              <a:rPr lang="en-US" b="1" dirty="0"/>
              <a:t>Curiosity: </a:t>
            </a:r>
            <a:r>
              <a:rPr lang="en-US" dirty="0"/>
              <a:t>“Click to see the photo”</a:t>
            </a:r>
          </a:p>
          <a:p>
            <a:r>
              <a:rPr lang="en-US" b="1" dirty="0"/>
              <a:t>Reward: </a:t>
            </a:r>
            <a:r>
              <a:rPr lang="en-US" dirty="0"/>
              <a:t>“You’ve won $10,000!”</a:t>
            </a:r>
          </a:p>
        </p:txBody>
      </p:sp>
    </p:spTree>
    <p:extLst>
      <p:ext uri="{BB962C8B-B14F-4D97-AF65-F5344CB8AC3E}">
        <p14:creationId xmlns:p14="http://schemas.microsoft.com/office/powerpoint/2010/main" val="2119302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0D0C-3882-8AAB-0C33-23A3BEB9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5AA8C0-E3B7-6212-FF9B-5B52BCF1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33B112-38F8-9FA9-1309-881C095C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0E4964-6987-9AD2-C9EF-BE28B0A28DA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3"/>
            <a:ext cx="7372643" cy="463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Google Docs Phishing Attack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Attackers sent fake google docs invitations that appeared to come from people victims knew.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Victims were directed to a malicious application that requested access to their Google accounts.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Lesson:</a:t>
            </a:r>
          </a:p>
          <a:p>
            <a:pPr marL="0" indent="0">
              <a:buNone/>
            </a:pPr>
            <a:r>
              <a:rPr lang="en-US" dirty="0"/>
              <a:t>Even a message that appears to come from someone you know can be malicious.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Always verify unexpected requests.</a:t>
            </a:r>
          </a:p>
        </p:txBody>
      </p:sp>
    </p:spTree>
    <p:extLst>
      <p:ext uri="{BB962C8B-B14F-4D97-AF65-F5344CB8AC3E}">
        <p14:creationId xmlns:p14="http://schemas.microsoft.com/office/powerpoint/2010/main" val="588380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A675-F071-D5D3-DA35-670284BE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EA95F-0259-025C-F3F5-FC1FC7C2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Protect Yourself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697AA-C93F-CACE-3B04-1DA686A4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4F572C-D128-85E5-5D24-841EE05F1E5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2"/>
            <a:ext cx="7372643" cy="51768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strong, unique passwords.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Enable Multi-Factor Authentication (MFA).</a:t>
            </a:r>
          </a:p>
          <a:p>
            <a:endParaRPr lang="en-US" dirty="0"/>
          </a:p>
          <a:p>
            <a:r>
              <a:rPr lang="en-US" dirty="0"/>
              <a:t>Keep your devices and applications updated.</a:t>
            </a:r>
          </a:p>
          <a:p>
            <a:endParaRPr lang="en-US" dirty="0"/>
          </a:p>
          <a:p>
            <a:r>
              <a:rPr lang="en-US" dirty="0"/>
              <a:t>Don’t click unexpected links.</a:t>
            </a:r>
          </a:p>
          <a:p>
            <a:endParaRPr lang="en-US" dirty="0"/>
          </a:p>
          <a:p>
            <a:r>
              <a:rPr lang="en-US" dirty="0"/>
              <a:t>Don’t open suspicious attachments.</a:t>
            </a:r>
          </a:p>
          <a:p>
            <a:endParaRPr lang="en-US" dirty="0"/>
          </a:p>
          <a:p>
            <a:r>
              <a:rPr lang="en-US" dirty="0"/>
              <a:t>Never share passwords or OTPs.</a:t>
            </a:r>
          </a:p>
          <a:p>
            <a:endParaRPr lang="en-US" dirty="0"/>
          </a:p>
          <a:p>
            <a:r>
              <a:rPr lang="en-US" dirty="0"/>
              <a:t>Verify unusual requests through another channel.</a:t>
            </a:r>
          </a:p>
          <a:p>
            <a:endParaRPr lang="en-US" dirty="0"/>
          </a:p>
          <a:p>
            <a:r>
              <a:rPr lang="en-US" dirty="0"/>
              <a:t>Report suspicious messages.</a:t>
            </a:r>
          </a:p>
        </p:txBody>
      </p:sp>
    </p:spTree>
    <p:extLst>
      <p:ext uri="{BB962C8B-B14F-4D97-AF65-F5344CB8AC3E}">
        <p14:creationId xmlns:p14="http://schemas.microsoft.com/office/powerpoint/2010/main" val="291101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8A47-3569-0C5E-18F9-76642F61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48CF06-E81F-072A-80D8-8FD05277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You Do If You Click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1D07D-7680-84DD-E51E-D4EAB302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14BCCA-7C12-726E-9D03-37739E05230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2"/>
            <a:ext cx="7372643" cy="51768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Don’t panic. Act quickly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Stop interacting with the suspicious page.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Don’t enter additional information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you entered a password, change it immediately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Change the password anywhere else you reused it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Enable MFA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Report the incident to the appropriate person/IT team.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you downloaded something suspicious, notify IT/ security and scan the device. </a:t>
            </a:r>
          </a:p>
        </p:txBody>
      </p:sp>
    </p:spTree>
    <p:extLst>
      <p:ext uri="{BB962C8B-B14F-4D97-AF65-F5344CB8AC3E}">
        <p14:creationId xmlns:p14="http://schemas.microsoft.com/office/powerpoint/2010/main" val="478653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3AEB-2034-9070-06D2-D7DDEFF3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B5CB2F-5F79-9221-7C51-39BD07CF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41CC8A-13FE-8F49-85E4-E6F9C1A7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C05ACD-FA2A-072E-4532-B3646EB6BBFF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2"/>
            <a:ext cx="7372643" cy="5176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You receive:</a:t>
            </a:r>
          </a:p>
          <a:p>
            <a:pPr marL="0" indent="0">
              <a:buNone/>
            </a:pPr>
            <a:r>
              <a:rPr lang="en-US" dirty="0"/>
              <a:t>“Your bank account will be suspended today. Click here immediately to verify your account.”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 are the red flags?</a:t>
            </a:r>
          </a:p>
          <a:p>
            <a:pPr marL="342900" indent="-342900">
              <a:buAutoNum type="alphaUcPeriod"/>
            </a:pPr>
            <a:r>
              <a:rPr lang="en-US" dirty="0"/>
              <a:t>Urgency </a:t>
            </a:r>
          </a:p>
          <a:p>
            <a:pPr marL="342900" indent="-342900">
              <a:buAutoNum type="alphaUcPeriod"/>
            </a:pPr>
            <a:r>
              <a:rPr lang="en-US" dirty="0"/>
              <a:t>Threat of suspension</a:t>
            </a:r>
          </a:p>
          <a:p>
            <a:pPr marL="342900" indent="-342900">
              <a:buAutoNum type="alphaUcPeriod"/>
            </a:pPr>
            <a:r>
              <a:rPr lang="en-US" dirty="0"/>
              <a:t>Suspicious link</a:t>
            </a:r>
          </a:p>
          <a:p>
            <a:pPr marL="342900" indent="-342900">
              <a:buAutoNum type="alphaUcPeriod"/>
            </a:pPr>
            <a:r>
              <a:rPr lang="en-US" dirty="0"/>
              <a:t>All of the above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523458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B1A0-F3EA-1B83-4627-1AEE5771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A5BACA-2E3E-1741-8996-C8212F6F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B5441-4B83-191E-0B9F-97996B5F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130684-03DE-349B-5101-81A9062AB9A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681162"/>
            <a:ext cx="7372643" cy="5176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2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You “boss” sends you:</a:t>
            </a:r>
          </a:p>
          <a:p>
            <a:pPr marL="0" indent="0">
              <a:buNone/>
            </a:pPr>
            <a:r>
              <a:rPr lang="en-US" dirty="0"/>
              <a:t>“I’m in a meeting. Buy $5,000 worth of gift cards and send me the codes.”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should you do?</a:t>
            </a:r>
          </a:p>
          <a:p>
            <a:pPr marL="342900" indent="-342900">
              <a:buAutoNum type="alphaUcPeriod"/>
            </a:pPr>
            <a:r>
              <a:rPr lang="en-US" dirty="0"/>
              <a:t>Buy them immediately </a:t>
            </a:r>
          </a:p>
          <a:p>
            <a:pPr marL="342900" indent="-342900">
              <a:buAutoNum type="alphaUcPeriod"/>
            </a:pPr>
            <a:r>
              <a:rPr lang="en-US" dirty="0"/>
              <a:t>Ask which gift cards</a:t>
            </a:r>
          </a:p>
          <a:p>
            <a:pPr marL="342900" indent="-342900">
              <a:buAutoNum type="alphaUcPeriod"/>
            </a:pPr>
            <a:r>
              <a:rPr lang="en-US" dirty="0"/>
              <a:t>Verify the request through another trusted channel</a:t>
            </a:r>
          </a:p>
          <a:p>
            <a:pPr marL="342900" indent="-342900">
              <a:buAutoNum type="alphaUcPeriod"/>
            </a:pPr>
            <a:r>
              <a:rPr lang="en-US" dirty="0"/>
              <a:t>Send the money instead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2174046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</a:t>
            </a:r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:a16="http://schemas.microsoft.com/office/drawing/2014/main" id="{2301248D-7370-7643-9BE6-F8CDCFF4D46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352575"/>
            <a:ext cx="12192002" cy="2289897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3218" y="3798276"/>
            <a:ext cx="9690882" cy="3059723"/>
          </a:xfrm>
        </p:spPr>
        <p:txBody>
          <a:bodyPr/>
          <a:lstStyle/>
          <a:p>
            <a:r>
              <a:rPr lang="en-US" sz="1600" b="1" dirty="0"/>
              <a:t>Remember: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Don’t trust messages simply because they look professional.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Check the sender and website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Never share passwords or OTPs.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Don’t allow urgency to control your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Verify unexpected request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Report suspicious activity.</a:t>
            </a:r>
          </a:p>
          <a:p>
            <a:endParaRPr lang="en-US" sz="1800" dirty="0"/>
          </a:p>
          <a:p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127</TotalTime>
  <Words>865</Words>
  <Application>Microsoft Office PowerPoint</Application>
  <PresentationFormat>Widescreen</PresentationFormat>
  <Paragraphs>185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Trade Gothic LT Pro</vt:lpstr>
      <vt:lpstr>Trebuchet MS</vt:lpstr>
      <vt:lpstr>Office Theme</vt:lpstr>
      <vt:lpstr>PHISHING AWARENESS TRAINING</vt:lpstr>
      <vt:lpstr>Training Overview</vt:lpstr>
      <vt:lpstr>What is phishing</vt:lpstr>
      <vt:lpstr>How Does Phishing Work?</vt:lpstr>
      <vt:lpstr>Common Types of Phishing</vt:lpstr>
      <vt:lpstr>How to Spot a Phishing Email</vt:lpstr>
      <vt:lpstr>How to Identify a Fake Website</vt:lpstr>
      <vt:lpstr>Social Engineering</vt:lpstr>
      <vt:lpstr>Real World Examples</vt:lpstr>
      <vt:lpstr>How to Protect Yourself</vt:lpstr>
      <vt:lpstr>What Should You Do If You Click</vt:lpstr>
      <vt:lpstr>Interactive Quiz</vt:lpstr>
      <vt:lpstr>Interactive Quiz</vt:lpstr>
      <vt:lpstr>Key Takeaway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Confidence Agwasie</dc:creator>
  <cp:lastModifiedBy>Confidence Agwasie</cp:lastModifiedBy>
  <cp:revision>2</cp:revision>
  <dcterms:created xsi:type="dcterms:W3CDTF">2026-10-01T19:28:15Z</dcterms:created>
  <dcterms:modified xsi:type="dcterms:W3CDTF">2026-10-01T23:02:26Z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